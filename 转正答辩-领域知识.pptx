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建立显示栈的全局认知。五层模型从上到下是App、策略、合成、HAL、硬件。重点强调两个设计要点：一是buffer和元数据分离，system_server不碰像素；二是SF是整个链路的汇合点。一帧生命周期的五个节点是后续各章的索引，讲到对应模块时可以回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这一页讲清楚谁在什么进程里干活。左边是四类进程的分工和SF内部的线程模型，重点是主线程是唯一帧驱动线程，所有commit/composite都串行执行。右边是BLAST架构，这是Android 16生产端的标准形态，核心是buffer和窗口属性原子提交，以及A16新增的BufferReleaseChannel加速buffer归还。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这一页讲两个底层基础设施。左边Gralloc是图形内存分配和映射的核心，A16的Gralloc5最大改进是mapper从HIDL Binder变成stable-c进程内直调，lock/unlock零IPC。右边Fence是全链路同步的核心，三种fence(acquire/release/present)分别对应内容写入完成、消费完成、实际显示三个时刻，设计目标是全链路无CPU等待。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是第二部分的总览，建立A13到A16演进的全局认知。三个模块的变化用对比卡片呈现，核心是从旧范式到新范式的迁移。底部的端到端主线图强调三层协同，不是孤立变化。最后用一段话总结关键认知：这是架构范式的系统性迁移，不是零散API增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这一页聚焦DMS的变化。左边是架构对比和亮度链路，核心是从集中式大类拆成策略化子系统，亮度用Strategy+Clamper两阶段分离。右边是A16新增的四个关键能力(多屏拓扑、外接显示策略、HDR conversion、细粒度listener)和刷新率两级决策(DMS策略输出范围，SF机制做最终选择)。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这一页讲SF和HWC/HAL的变化。左边SF三大变化：FrontEnd数据驱动前端(从Layer树遍历到不可变快照)、主循环commit/composite分离带pacesetter+FrameTargets(多屏独立调度)、PowerAdvisor独立工作负载模型。右边HWC变化：AIDL Composer3从V1到V4的版本演进(每代对应一个Android大版本)、批量命令队列、validate/present两阶段，以及Gralloc5的stable-c mapper零IPC改进。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建立SF16的全局架构认知。顶部一句话定位：SF是策略与机制的汇合点。中间用四个卡片展示顶层模块划分：入口协调层、前端调度层、合成引擎层、硬件功耗层。底部左右分栏讲进程线程模型和关键设计原则。重点强调读写分离(快照不可变)和多显示独立调度(pacesetter+FrameTargets)这两个A16的核心架构特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这一页深入SF的主循环机制。顶部ICompositor四步流程图是理解SF运行的核心：initFrame确定调度目标，commit由FrontEnd生成快照，composite只读快照执行合成，finalizeFrame收尾统计。左边FrontEnd commit五阶段流水线展示了从Transaction到不可变快照的完整转换过程。右边composite阶段讲合成决策与执行：CompositionEngine决策、HWC validate/present、CLIENT回退RenderEngine。底部强调commit/composite读写分离是A16的核心设计。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SF的两个关键子系统。左边Scheduler负责刷新率决策和VSYNC分发，四个核心组件：VSyncPredictor预测、EventThread双线程分发、LayerHistory记录帧率、RefreshRateSelector做最终选择。强调DMS策略层和SF机制层的两级决策。右边CompositionEngine负责合成策略，核心是DEVICE优先、CLIENT回退，五步决策流程从候选标记到HWC present，最后强调硬件优先的核心原则。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这一页建立Mali GPU内核驱动kbase的全局认知。顶部一句话定位。左边五层架构模型从用户空间入口到硬件作业调度，每层对应一个核心数据结构。右边双后端对比：JM是传统架构内核参与调度，CSF是新一代(G710+)将调度下沉到GPU固件。底部强调统一frontend抽象层让上层代码不感知后端差异，CSF是架构演进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GPU驱动的生命周期和内存管理。左边上半部分是kbase_device的五步初始化流程(从probe到作业后端初始化)，下半部分是kbase_context的生命周期(open/关联资源/运行期/close)。右边是内存管理核心：三地址空间模型(CPU VA/物理/GPU VA)、页池预分配优化、四步分配映射流程，以及映射属性和dma-buf零拷贝共享。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这一页讲GPU驱动的MMU和作业提交。左边kbase_as是GPU MMU地址空间，每进程独立，通过</a:t>
            </a:r>
            <a:r>
              <a:rPr lang="en-US" b="true" i="false" strike="noStrike" u="none" sz="1400">
                <a:solidFill>
                  <a:srgbClr val="000000"/>
                </a:solidFill>
                <a:highlight>
                  <a:srgbClr val="FFFF00">
                    <a:alpha val="0"/>
                  </a:srgbClr>
                </a:highlight>
              </a:rPr>
              <a:t>ASID硬件隔离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，多级页表支持大页，TLB管理按ASID全局或局部刷新。特别强调了与显示系统的关联：GPU渲染的buffer通过dma-buf零拷贝共享给DPU，acquire fence保证读写顺序。右边作业提交路径对比JM和CSF：JM内核直接调度写入slot，CSF提交command group由GPU固件调度，CSF是架构演进趋势。底部是fence同步机制。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这一页建立HWC的全局认知。顶部一句话定位：HWC是硬件合成的抽象层，核心价值是硬件overlay零GPU开销。左边五层分层架构从SF到DPU，强调SF不直接操作硬件，通过HWC HAL解耦，vendor可替换实现。右边进程视角展示SF(system)和HWC(vendor)通过AIDL Binder跨进程通信，批量命令经FMQ共享内存。底部对比DEVICE(硬件overlay优先)和CLIENT(GPU回退)两种合成类型。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这一页讲HWC的内部模块划分，以DrmHwc(基于DRM/KMS的开源HWC实现)为例。七大核心模块用卡片展示：</a:t>
            </a:r>
            <a:r>
              <a:rPr lang="en-US" b="true" i="false" strike="noStrike" u="none" sz="1400">
                <a:solidFill>
                  <a:srgbClr val="000000"/>
                </a:solidFill>
                <a:highlight>
                  <a:srgbClr val="FFFF00">
                    <a:alpha val="0"/>
                  </a:srgbClr>
                </a:highlight>
              </a:rPr>
              <a:t>DrmHwc主入口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、</a:t>
            </a:r>
            <a:r>
              <a:rPr lang="en-US" b="true" i="false" strike="noStrike" u="none" sz="1400">
                <a:solidFill>
                  <a:srgbClr val="000000"/>
                </a:solidFill>
                <a:highlight>
                  <a:srgbClr val="FFFF00">
                    <a:alpha val="0"/>
                  </a:srgbClr>
                </a:highlight>
              </a:rPr>
              <a:t>ResourceManager资源管理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、HwcDisplay显示实例、Backend合成后端、HwcLayer图层实例、VsyncManager VSYNC管理，以及热插拔管理。底部用四层协作关系总结：入口层(DrmHwc)、显示层(HwcDisplay+HwcLayer)、资源层(ResourceManager)、事件层(Vsync+热插拔)，让领导理解各模块如何协同工作。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A55D3"/>
                </a:solidFill>
              </a:rPr>
              <a:t>【重要台词】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 这是HWC部分的最后一页，也是整个领域知识学习的收尾。顶部三阶段流程图(</a:t>
            </a:r>
            <a:r>
              <a:rPr lang="en-US" b="true" i="false" strike="noStrike" u="none" sz="1400">
                <a:solidFill>
                  <a:srgbClr val="000000"/>
                </a:solidFill>
                <a:highlight>
                  <a:srgbClr val="FFFF00">
                    <a:alpha val="0"/>
                  </a:srgbClr>
                </a:highlight>
              </a:rPr>
              <a:t>Validate→Accept→Present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)是HWC合成的核心流程，用箭头串联。左边讲DRM Atomic Commit的原子性和两阶段测试-提交机制，这是理解HWC如何与内核DRM交互的关键。右边讲四个性能优化手段(presentOrValidate、异步Worker、批量FMQ、零拷贝)。底部深蓝色总结框串联了从App渲染到面板显示的完整链路，呼应第一页的一帧生命周期，形成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01 Android显示整体架构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显示栈五层模型与一帧生命周期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五层流水线（自上而下）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803400"/>
            <a:ext cx="4826000" cy="660400"/>
          </a:xfrm>
          <a:prstGeom prst="roundRect">
            <a:avLst>
              <a:gd name="adj" fmla="val 11538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 绘制层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各App进程 · 生成帧内容写入GraphicBuffer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40000"/>
            <a:ext cx="4826000" cy="660400"/>
          </a:xfrm>
          <a:prstGeom prst="roundRect">
            <a:avLst>
              <a:gd name="adj" fmla="val 11538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窗口/显示策略层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system_server · WMS窗口管理 + DMS显示策略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76600"/>
            <a:ext cx="4826000" cy="660400"/>
          </a:xfrm>
          <a:prstGeom prst="roundRect">
            <a:avLst>
              <a:gd name="adj" fmla="val 11538"/>
            </a:avLst>
          </a:prstGeom>
          <a:solidFill>
            <a:srgbClr val="1E90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合成服务层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surfaceflinger进程 · 收集buffer按VSYNC合成最终帧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13200"/>
            <a:ext cx="4826000" cy="660400"/>
          </a:xfrm>
          <a:prstGeom prst="roundRect">
            <a:avLst>
              <a:gd name="adj" fmla="val 11538"/>
            </a:avLst>
          </a:prstGeom>
          <a:solidFill>
            <a:srgbClr val="1E90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图形HAL层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vendor进程 · composer3硬件合成 + Gralloc内存分配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749800"/>
            <a:ext cx="4826000" cy="660400"/>
          </a:xfrm>
          <a:prstGeom prst="roundRect">
            <a:avLst>
              <a:gd name="adj" fmla="val 11538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内核/硬件层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DRM/KMS驱动 · Display Controller(DPU) + GPU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4224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一帧生命周期 · 五个关键节点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879600"/>
            <a:ext cx="406400" cy="406400"/>
          </a:xfrm>
          <a:prstGeom prst="ellipse">
            <a:avLst/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56400" y="18796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Choreographer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：App等待SF分发的VSYNC-app信号，每帧只执行一次绘制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228255" flipH="false" flipV="false">
            <a:off x="6299200" y="2406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223000" y="2590800"/>
            <a:ext cx="406400" cy="406400"/>
          </a:xfrm>
          <a:prstGeom prst="ellipse">
            <a:avLst/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56400" y="25908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BLAST原子提交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：buffer与窗口属性打包进同一Transaction，避免内容与几何不同步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228255" flipH="false" flipV="false">
            <a:off x="6299200" y="31180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223000" y="3302000"/>
            <a:ext cx="406400" cy="406400"/>
          </a:xfrm>
          <a:prstGeom prst="ellipse">
            <a:avLst/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56400" y="33020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commit / composite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：SF主循环两阶段，commit产出不可变快照，composite只读快照执行合成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228255" flipH="false" flipV="false">
            <a:off x="6299200" y="38292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223000" y="4013200"/>
            <a:ext cx="406400" cy="406400"/>
          </a:xfrm>
          <a:prstGeom prst="ellipse">
            <a:avLst/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56400" y="40132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 / present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：先validate让HWC分配DEVICE/CLIENT，再present送显；DEVICE优于CLIENT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228255" flipH="false" flipV="false">
            <a:off x="6299200" y="45404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223000" y="4724400"/>
            <a:ext cx="406400" cy="406400"/>
          </a:xfrm>
          <a:prstGeom prst="ellipse">
            <a:avLst/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756400" y="47244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Fence闭环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：全链路无CPU等待，acquire/release/present三种fence传递完成时机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15000"/>
            <a:ext cx="10668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5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核心要点：</a:t>
            </a:r>
            <a:r>
              <a:rPr lang="en-US" b="true" i="false" strike="noStrike" u="none" sz="1300">
                <a:solidFill>
                  <a:srgbClr val="0F172A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内容(buffer)与元数据(窗口属性)走两条路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——buffer经BLAST直达SF不经过system_server；窗口策略由WMS/DMS管理以Transaction下发。</a:t>
            </a:r>
            <a:r>
              <a:rPr lang="en-US" b="true" i="false" strike="noStrike" u="none" sz="1300">
                <a:solidFill>
                  <a:srgbClr val="0F172A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SF是策略与机制的汇合点</a:t>
            </a:r>
            <a:r>
              <a:rPr lang="en-US" b="fals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，唯一与硬件交互的合成服务。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01 Android显示整体架构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02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进程与线程模型 · BLAST生产端架构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四类进程与SF内部线程分工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803400"/>
            <a:ext cx="2413000" cy="812800"/>
          </a:xfrm>
          <a:prstGeom prst="roundRect">
            <a:avLst>
              <a:gd name="adj" fmla="val 9375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App进程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UI Thread录制 + RenderThread GPU渲染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27400" y="1803400"/>
            <a:ext cx="2413000" cy="812800"/>
          </a:xfrm>
          <a:prstGeom prst="roundRect">
            <a:avLst>
              <a:gd name="adj" fmla="val 9375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system_server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WMS窗口管理 + DMS显示策略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17800"/>
            <a:ext cx="2413000" cy="812800"/>
          </a:xfrm>
          <a:prstGeom prst="roundRect">
            <a:avLst>
              <a:gd name="adj" fmla="val 9375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独立native进程，合成服务核心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27400" y="2717800"/>
            <a:ext cx="2413000" cy="812800"/>
          </a:xfrm>
          <a:prstGeom prst="roundRect">
            <a:avLst>
              <a:gd name="adj" fmla="val 9375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vendor HAL进程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composer3 + Gralloc分配器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759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SF进程内关键线程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38600"/>
            <a:ext cx="508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：唯一帧驱动线程，Scheduler/MessageQueue驱动，commit/composite串行执行，SCHED_FIFO实时优先级</a:t>
            </a:r>
            <a:endParaRPr lang="en-US" sz="1100"/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Binder线程池(4)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：处理ISurfaceComposer等入站IPC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EventThread×2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：app与appSf两条VSYNC分发线程，相位错开实现流水线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RenderEngine线程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：GPU离屏合成(client合成回退)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HwcAsyncWorker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：validate/present异步执行，与主线程并行</a:t>
            </a:r>
          </a:p>
        </p:txBody>
      </p:sp>
      <p:cxnSp>
        <p:nvCxnSpPr>
          <p:cNvPr name="Connector 13" id="13"/>
          <p:cNvCxnSpPr/>
          <p:nvPr/>
        </p:nvCxnSpPr>
        <p:spPr>
          <a:xfrm rot="5390121" flipH="false" flipV="false">
            <a:off x="3886200" y="3625859"/>
            <a:ext cx="441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350000" y="1422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BLAST生产端架构（Android 16标准形态）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82880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App进程内：BLASTBufferQueue 持有 BufferQueue(生产+消费同在App)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209210" flipH="false" flipV="false">
            <a:off x="8775700" y="24957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266700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buffer + 几何属性(位置/透明度/裁剪) 打包进同一 Transaction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209210" flipH="false" flipV="false">
            <a:off x="8775700" y="33339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350000" y="350520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 收到 Transaction，SF端不再有每Layer的BufferQueue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4267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相比旧架构的三个核心变化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45466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队列位于App进程内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：SF端不再有每个Layer一条buffer队列线程</a:t>
            </a:r>
            <a:endParaRPr lang="en-US" sz="1100"/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buffer与几何原子化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：resize时新尺寸buffer与新crop/position同帧生效，避免闪黑/拉伸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归还路径提速(A16新增)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true" i="false" strike="noStrike" u="none" sz="1100">
                <a:solidFill>
                  <a:srgbClr val="334155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BufferReleaseChannel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用单向socket把release fence从SF推回App，替代Binder回调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01 Android显示整体架构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Gralloc图形内存子系统 · Fence同步机制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Gralloc：allocate 与 map 分离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803400"/>
            <a:ext cx="2349500" cy="1016000"/>
          </a:xfrm>
          <a:prstGeom prst="roundRect">
            <a:avLst>
              <a:gd name="adj" fmla="val 7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分配 Allocator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开销大、频率低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Binder IPC → vendor进程</a:t>
            </a:r>
          </a:p>
        </p:txBody>
      </p:sp>
      <p:cxnSp>
        <p:nvCxnSpPr>
          <p:cNvPr name="Connector 8" id="8"/>
          <p:cNvCxnSpPr/>
          <p:nvPr/>
        </p:nvCxnSpPr>
        <p:spPr>
          <a:xfrm rot="-114549" flipH="false" flipV="false">
            <a:off x="3111606" y="2305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492500" y="1803400"/>
            <a:ext cx="2349500" cy="1016000"/>
          </a:xfrm>
          <a:prstGeom prst="roundRect">
            <a:avLst>
              <a:gd name="adj" fmla="val 750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映射 Mapper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开销小、频率高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stable-c 进程内直调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97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16 = Gralloc5（AIDL V2 + AIMapper v5）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2766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IAllocator AIDL V2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：allocate2结构化描述符，getIMapperLibrarySuffix发现mapper库</a:t>
            </a:r>
            <a:endParaRPr lang="en-US" sz="1100"/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AIMapper v5 (stable-c)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：dlopen mapper.&lt;suffix&gt;.so，import/lock/unlock全是普通函数调用，</a:t>
            </a: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零IPC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相比Gralloc4(HIDL每次lock都是Binder往返)，mapper路径是主要性能改进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5080000" cy="1016000"/>
          </a:xfrm>
          <a:prstGeom prst="roundRect">
            <a:avLst>
              <a:gd name="adj" fmla="val 7500"/>
            </a:avLst>
          </a:prstGeom>
          <a:solidFill>
            <a:srgbClr val="E8C5F0">
              <a:alpha val="5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DEVICE合成路径下零像素拷贝：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App GPU写入的dmabuf物理内存，就是DPU扫描输出读取的同一块内存。期间只有句柄传递(native_handle的dmabuf fd经Binder dup)与映射建立，Gralloc分配只在buffer生命周期开始时发生一次。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90121" flipH="false" flipV="false">
            <a:off x="3886200" y="3625859"/>
            <a:ext cx="441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350000" y="1422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Fence：全链路无CPU等待的同步原语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828800"/>
            <a:ext cx="5080000" cy="609600"/>
          </a:xfrm>
          <a:prstGeom prst="roundRect">
            <a:avLst>
              <a:gd name="adj" fmla="val 12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acquire fence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生产者GPU/解码器创建 · 内容写入完成的时刻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540000"/>
            <a:ext cx="5080000" cy="609600"/>
          </a:xfrm>
          <a:prstGeom prst="roundRect">
            <a:avLst>
              <a:gd name="adj" fmla="val 1250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release fence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消费者HWC/RenderEngine返回 · 消费端不再读取该buffer的时刻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251200"/>
            <a:ext cx="5080000" cy="609600"/>
          </a:xfrm>
          <a:prstGeom prst="roundRect">
            <a:avLst>
              <a:gd name="adj" fmla="val 12500"/>
            </a:avLst>
          </a:prstGeom>
          <a:solidFill>
            <a:srgbClr val="1E90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present fence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HAL显示驱动创建 · 该帧实际显示到屏幕的时刻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0386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3180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传递buffer所有权时</a:t>
            </a: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总是同时传递一个fence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，任何环节都不需要CPU阻塞等待</a:t>
            </a:r>
            <a:endParaRPr lang="en-US" sz="1100"/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等待被推迟到真正读写内存的一方：GPU驱动、显示硬件、或CPU lock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SF侧只对acquire fence做</a:t>
            </a: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非阻塞状态查询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，决定本帧是否采用该buffer</a:t>
            </a:r>
          </a:p>
          <a:p>
            <a:pPr algn="l" indent="-139700" marL="1397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present fence时间戳用于VSyncPredictor校准模型 + FrameTimeline记录实际上屏时刻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02 Android13-16显示模块差异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总体演进主线：</a:t>
            </a:r>
            <a:r>
              <a:rPr lang="en-US" b="true" i="false" strike="noStrike" u="none" sz="2600">
                <a:solidFill>
                  <a:srgbClr val="7B2D8E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三层同时演进</a:t>
            </a: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，非单点API增量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986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DisplayManager / DMS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A13：集中式大类管理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显示设备/亮度/mode全在DMS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A16：策略化 + 多屏化 + 可观测化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亮度/mode/拓扑/HDR拆成独立模块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4986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A13：mutable Layer对象树驱动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主循环遍历Layer树合成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A16：快照化前端 + 多显示目标帧驱动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FrontEnd生成不可变LayerSnapshot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commit/composite按pacesetter+FrameTargets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4986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 / HAL Graphics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A13：HIDL Composer 2.x + AIDL早期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新能力少，HIDL仍是主路径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A16：AIDL Composer3 V1-V4成主线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VRR/HDR/LUT/Overlay/layer brightness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Stable-C Mapper + Allocator V2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端到端主线：三层协同形成完整闭环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18000"/>
            <a:ext cx="3175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上层策略表达</a:t>
            </a: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DMS vote / topology / HDR policy</a:t>
            </a:r>
          </a:p>
        </p:txBody>
      </p:sp>
      <p:cxnSp>
        <p:nvCxnSpPr>
          <p:cNvPr name="Connector 11" id="11"/>
          <p:cNvCxnSpPr/>
          <p:nvPr/>
        </p:nvCxnSpPr>
        <p:spPr>
          <a:xfrm rot="-98194" flipH="false" flipV="false">
            <a:off x="3937091" y="46672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381500" y="4318000"/>
            <a:ext cx="3429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中层快照化合成</a:t>
            </a: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SF FrontEnd快照 + 按frame target合成</a:t>
            </a:r>
          </a:p>
        </p:txBody>
      </p:sp>
      <p:cxnSp>
        <p:nvCxnSpPr>
          <p:cNvPr name="Connector 13" id="13"/>
          <p:cNvCxnSpPr/>
          <p:nvPr/>
        </p:nvCxnSpPr>
        <p:spPr>
          <a:xfrm rot="-98194" flipH="false" flipV="false">
            <a:off x="7810591" y="46672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255000" y="4318000"/>
            <a:ext cx="3175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底层协议能力扩展</a:t>
            </a: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HWC AIDL接收present timing/HDR/LUT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283200"/>
            <a:ext cx="10668000" cy="1143000"/>
          </a:xfrm>
          <a:prstGeom prst="roundRect">
            <a:avLst>
              <a:gd name="adj" fmla="val 6666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</a:t>
            </a: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13到A16的变化不是零散API增加，而是架构范式的系统性迁移。DMS从"集中管理"变成"策略协调器"，SF从"对象树遍历"变成"数据流快照"，HWC从"HIDL逐属性调用"变成"AIDL批量命令+丰富协议能力"。三层变化相互呼应：上层能表达更细粒度策略，中层能按不同显示目标帧独立调度，底层能接收更丰富的每帧时序与色彩信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02 Android13-16显示模块差异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DisplayManager：从集中式大类到策略化子系统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架构对比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52600"/>
            <a:ext cx="2349500" cy="1524000"/>
          </a:xfrm>
          <a:prstGeom prst="roundRect">
            <a:avLst>
              <a:gd name="adj" fmla="val 5000"/>
            </a:avLst>
          </a:prstGeom>
          <a:solidFill>
            <a:srgbClr val="94A3B8">
              <a:alpha val="3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13</a:t>
            </a: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DisplayManagerService 大类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+ DisplayPowerController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+ DisplayModeDirector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业务逻辑集中在少数类</a:t>
            </a:r>
          </a:p>
        </p:txBody>
      </p:sp>
      <p:cxnSp>
        <p:nvCxnSpPr>
          <p:cNvPr name="Connector 8" id="8"/>
          <p:cNvCxnSpPr/>
          <p:nvPr/>
        </p:nvCxnSpPr>
        <p:spPr>
          <a:xfrm rot="-114549" flipH="false" flipV="false">
            <a:off x="3111606" y="25082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492500" y="1752600"/>
            <a:ext cx="2349500" cy="1524000"/>
          </a:xfrm>
          <a:prstGeom prst="roundRect">
            <a:avLst>
              <a:gd name="adj" fmla="val 50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Android 16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DMS = 协调入口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brightness/ mode/ state/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layout/ feature/ plugin/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topology/ notifications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按职责拆成独立子包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05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亮度链路：Strategy 与 Clamper 分离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835400"/>
            <a:ext cx="5080000" cy="508000"/>
          </a:xfrm>
          <a:prstGeom prst="roundRect">
            <a:avLst>
              <a:gd name="adj" fmla="val 10000"/>
            </a:avLst>
          </a:prstGeom>
          <a:solidFill>
            <a:srgbClr val="E8C5F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Strategy(亮度来源)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：自动亮度 / 手动 / temporary override / doze / boost / fallback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154862" flipH="false" flipV="false">
            <a:off x="3213100" y="44261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4521200"/>
            <a:ext cx="5080000" cy="508000"/>
          </a:xfrm>
          <a:prstGeom prst="roundRect">
            <a:avLst>
              <a:gd name="adj" fmla="val 10000"/>
            </a:avLst>
          </a:prstGeom>
          <a:solidFill>
            <a:srgbClr val="E8C5F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Clamper/Modifier(限制修正)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：HDR / thermal / low power / minimum mode / 外部限制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154862" flipH="false" flipV="false">
            <a:off x="3213100" y="5111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52070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DisplayPowerController → HWC 亮度命令(与画面同帧生效)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90397" flipH="false" flipV="false">
            <a:off x="3822700" y="3689359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A16 新增/强化的关键能力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778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多屏拓扑(DisplayTopologyCoordinator/Store)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：记录多屏相对位置关系，持久化到XML，下发给Input做坐标映射。面向桌面模式/外接屏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外接显示策略(ExternalDisplayPolicy)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：管理是否允许启用、镜像/扩展、USB线缆错误提示、连接统计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HDR conversion policy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：HDR输出转换从隐式底层行为提升为framework可控策略，passthrough/system conversion/force output type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细粒度display listener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：refresh rate/state/brightness/connection/HDR-SDR ratio可单独订阅，避免高频刷新率变更导致无关回调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937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刷新率决策：两级职责分离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4267200"/>
            <a:ext cx="2413000" cy="762000"/>
          </a:xfrm>
          <a:prstGeom prst="roundRect">
            <a:avLst>
              <a:gd name="adj" fmla="val 6666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DMS mode/ (策略层)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vote类型化：SizeVote/SupportedModesVote…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输出允许范围(min/max)</a:t>
            </a:r>
          </a:p>
        </p:txBody>
      </p:sp>
      <p:cxnSp>
        <p:nvCxnSpPr>
          <p:cNvPr name="Connector 21" id="21"/>
          <p:cNvCxnSpPr/>
          <p:nvPr/>
        </p:nvCxnSpPr>
        <p:spPr>
          <a:xfrm rot="-137436" flipH="false" flipV="false">
            <a:off x="8763127" y="46418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9080500" y="4267200"/>
            <a:ext cx="2349500" cy="762000"/>
          </a:xfrm>
          <a:prstGeom prst="roundRect">
            <a:avLst>
              <a:gd name="adj" fmla="val 6666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 RefreshRateSelector (机制层)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结合LayerHistory逐层帧率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在范围内做最终选择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52070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SyntheticModeManager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支持渲染60Hz/显示120Hz的解耦模式(VRR基础)。功能开关全面切换到aconfig flag(surfaceflinger_flags_new.aconfig / display_flags.aconfig)。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02 Android13-16显示模块差异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 与 HWC/HAL：快照化合成与 AIDL 协议扩展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 三大架构变化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526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FrontEnd 数据驱动前端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A13：Layer类自身持有绘制状态，遍历Layer树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A16：RequestedLayerState → LayerLifecycleManager → LayerSnapshotBuilder → 不可变LayerSnapshot，合成端只读快照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686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主循环 commit/composite 分离 + 多显示目标帧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A13：单时间点驱动，遍历mutable Layer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A16：commit(pacesetter, FrameTargets)产出快照；composite(pacesetter, FrameTargeters)只读快照合成；多屏不再绑定同一节奏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7846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1E90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PowerAdvisor 独立工作负载模型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A13：位于DisplayHardware下，HWC/power hint辅助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A16：提升为顶层PowerAdvisor/，围绕frame workload、hint session、layer map、实际工作时长组织，向ADPF上报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51400"/>
            <a:ext cx="5080000" cy="914400"/>
          </a:xfrm>
          <a:prstGeom prst="roundRect">
            <a:avLst>
              <a:gd name="adj" fmla="val 8333"/>
            </a:avLst>
          </a:prstGeom>
          <a:solidFill>
            <a:srgbClr val="E8C5F0">
              <a:alpha val="5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传统Layer子类职责迁移：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A13用BufferStateLayer/BufferQueueLayer/EffectLayer等子类承载状态；A16删除/迁移顶层子类，职责转移到FrontEnd、LayerFE和Snapshot。旧版hook在Layer子类的补丁迁移到A16时需找FrontEnd对应切点。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90397" flipH="false" flipV="false">
            <a:off x="3822700" y="3689359"/>
            <a:ext cx="454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350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HWC / HAL Graphics 变化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7526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1E90FF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AIDL Composer3</a:t>
            </a:r>
            <a:r>
              <a:rPr lang="en-US" b="true" i="false" strike="noStrike" u="none" sz="11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 版本演进(V1→V4)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032000"/>
            <a:ext cx="50800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V1(A13)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：AIDL化；亮度进合成命令(DisplayBrightness/LayerBrightness)，HDR/SDR混合调光</a:t>
            </a:r>
            <a:endParaRPr lang="en-US" sz="1100"/>
          </a:p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V2(A14)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：OverlayProperties(overlay支持的format/dataspace组合)；getDisplayConfigurations带vrrConfig</a:t>
            </a:r>
          </a:p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V3(A15)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：VRR正式化：onRefreshRateChangedDebug、notifyExpectedPresent、合成帧率与显示刷新率解耦</a:t>
            </a:r>
          </a:p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V4(A16)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：DisplayLuts/Luts(3D LUT色彩变换下沉到显示硬件)、picture profile(画质处理器配额)等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556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命令模型与协议能力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8354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批量命令队列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：SF不逐属性调用HAL，一帧的DisplayCommand(内含LayerCommand[])经共享内存FMQ一次executeCommands提交</a:t>
            </a:r>
            <a:endParaRPr lang="en-US" sz="1100"/>
          </a:p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Layer生命周期批处理(V3+)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：图层创建/销毁并入批量命令，省去逐层IPC</a:t>
            </a:r>
          </a:p>
          <a:p>
            <a:pPr algn="l" indent="-127000" marL="127000">
              <a:lnSpc>
                <a:spcPct val="116666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validate/present两阶段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：先validate让HWC分配DEVICE/CLIENT，再present送显；presentOrValidate可跳过往返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953000"/>
            <a:ext cx="5080000" cy="965200"/>
          </a:xfrm>
          <a:prstGeom prst="roundRect">
            <a:avLst>
              <a:gd name="adj" fmla="val 7894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Gralloc5 = IAllocator AIDL V2 + AIMapper v5(stable-c)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Allocator V2：allocate2结构化描述符 + getIMapperLibrarySuffix发现mapper库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AIMapper v5：dlopen vendor动态库，import/lock/unlock进程内直调零IPC，取代Gralloc4的HIDL Binder往返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03 SurfaceFlinger16架构原理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07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SF定位与顶层模块划分：策略与机制的汇合点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73200"/>
            <a:ext cx="10668000" cy="660400"/>
          </a:xfrm>
          <a:prstGeom prst="roundRect">
            <a:avLst>
              <a:gd name="adj" fmla="val 11538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独立native进程，由init启动。是显示链路中唯一同时对接上层窗口策略(App/WMS Transaction)与底层硬件合成(HWC/DRM)的服务——策略与机制的汇合点。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368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顶层模块划分（按职责分层）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92400"/>
            <a:ext cx="2540000" cy="1270000"/>
          </a:xfrm>
          <a:prstGeom prst="roundRect">
            <a:avLst>
              <a:gd name="adj" fmla="val 60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入口与协调层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SurfaceFlinger(主类)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MessageQueue(事件循环)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ICompositor(帧驱动接口)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54400" y="2692400"/>
            <a:ext cx="2540000" cy="1270000"/>
          </a:xfrm>
          <a:prstGeom prst="roundRect">
            <a:avLst>
              <a:gd name="adj" fmla="val 600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前端与调度层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FrontEnd(快照化前端)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Scheduler(VSYNC/刷新率)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EventThread×2(分发)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46800" y="2692400"/>
            <a:ext cx="2540000" cy="1270000"/>
          </a:xfrm>
          <a:prstGeom prst="roundRect">
            <a:avLst>
              <a:gd name="adj" fmla="val 6000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合成引擎层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CompositionEngine(合成决策)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RenderEngine(GPU离屏合成)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Output(显示输出抽象)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39200" y="2692400"/>
            <a:ext cx="2590800" cy="1270000"/>
          </a:xfrm>
          <a:prstGeom prst="roundRect">
            <a:avLst>
              <a:gd name="adj" fmla="val 6000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硬件与功耗层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HwcComposer(HWC封装)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ComposerHal(HAL适配)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PowerAdvisor(功耗提示)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656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进程与线程模型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958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独立native进程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：/system/bin/surfaceflinger，init启动，不依赖system_server存活</a:t>
            </a:r>
            <a:endParaRPr lang="en-US" sz="1100"/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：唯一帧驱动，SCHED_FIFO实时优先级，MessageQueue驱动commit/composite串行执行</a:t>
            </a:r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Binder线程池(4)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：处理ISurfaceComposer/ISurfaceComposerClient等入站IPC</a:t>
            </a:r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EventThread×2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：app与appSf两条VSYNC分发线程，相位错开实现App绘制与SF合成流水线</a:t>
            </a:r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RenderEngine线程 + HwcAsyncWorker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：GPU合成与HWC validate/present异步并行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1656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关键设计原则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4958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读写分离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：FrontEnd commit阶段写快照，composite阶段只读快照合成，消除合成期间的状态竞争</a:t>
            </a:r>
            <a:endParaRPr lang="en-US" sz="1100"/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硬件优先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：优先让HWC做DEVICE硬件overlay合成，仅在HWC能力不足时回退RenderEngine GPU合成(CLIENT)</a:t>
            </a:r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无锁数据结构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：LayerSnapshot不可变，composite端无需加锁即可遍历，主线程无阻塞等待</a:t>
            </a:r>
          </a:p>
          <a:p>
            <a:pPr algn="l" indent="-139700" marL="1397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多显示独立调度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：pacesetter + FrameTargets机制，内屏/外屏可按不同节奏独立合成，不再全局绑定同一VSYNC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03 SurfaceFlinger16架构原理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08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主循环 ICompositor 四步与 FrontEnd 五阶段流水线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ICompositor 帧驱动四步（主线程串行执行）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2476500" cy="812800"/>
          </a:xfrm>
          <a:prstGeom prst="roundRect">
            <a:avLst>
              <a:gd name="adj" fmla="val 9375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initFrame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初始化帧状态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确定pacesetter与FrameTargets</a:t>
            </a:r>
          </a:p>
        </p:txBody>
      </p:sp>
      <p:cxnSp>
        <p:nvCxnSpPr>
          <p:cNvPr name="Connector 8" id="8"/>
          <p:cNvCxnSpPr/>
          <p:nvPr/>
        </p:nvCxnSpPr>
        <p:spPr>
          <a:xfrm rot="-171744" flipH="false" flipV="false">
            <a:off x="3238659" y="2178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3492500" y="1778000"/>
            <a:ext cx="2476500" cy="812800"/>
          </a:xfrm>
          <a:prstGeom prst="roundRect">
            <a:avLst>
              <a:gd name="adj" fmla="val 9375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commit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应用Transaction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FrontEnd生成不可变LayerSnapshot</a:t>
            </a:r>
          </a:p>
        </p:txBody>
      </p:sp>
      <p:cxnSp>
        <p:nvCxnSpPr>
          <p:cNvPr name="Connector 10" id="10"/>
          <p:cNvCxnSpPr/>
          <p:nvPr/>
        </p:nvCxnSpPr>
        <p:spPr>
          <a:xfrm rot="-171744" flipH="false" flipV="false">
            <a:off x="5969159" y="2178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2476500" cy="812800"/>
          </a:xfrm>
          <a:prstGeom prst="roundRect">
            <a:avLst>
              <a:gd name="adj" fmla="val 9375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composite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只读快照合成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 validate/present 或 RenderEngine</a:t>
            </a:r>
          </a:p>
        </p:txBody>
      </p:sp>
      <p:cxnSp>
        <p:nvCxnSpPr>
          <p:cNvPr name="Connector 12" id="12"/>
          <p:cNvCxnSpPr/>
          <p:nvPr/>
        </p:nvCxnSpPr>
        <p:spPr>
          <a:xfrm rot="-171744" flipH="false" flipV="false">
            <a:off x="8699659" y="2178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953500" y="1778000"/>
            <a:ext cx="2476500" cy="812800"/>
          </a:xfrm>
          <a:prstGeom prst="roundRect">
            <a:avLst>
              <a:gd name="adj" fmla="val 9375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④ finalizeFrame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收尾与统计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FrameTimeline记录 + 功耗提示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2794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 commit 五阶段流水线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149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handleTransactionMessages — 消费Transaction队列，更新RequestedLayerState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657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updateLayerSnapshots — LayerLifecycleManager增删Layer，构建不可变LayerSnapshot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65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updateLayerGeometry — 计算每个Layer的几何变换(位置/裁剪/矩阵)，写入快照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673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④ updateLayerComposition — 为每个Layer标记候选合成类型(DEVICE/CLIENT/SOLID_COLOR)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181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⑤ updateLayerPerfHint — 收集Layer性能提示，更新LayerHistory供刷新率选择使用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86249" flipH="false" flipV="false">
            <a:off x="4508500" y="4375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350000" y="2794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composite 阶段：合成决策与执行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31496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CompositionEngine 决策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：遍历Output下的LayerSnapshot，结合HWC能力(overlay数量/格式/变换支持)，为每个Layer决定DEVICE或CLIENT合成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HWC validate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：将Layer列表提交HWC，HWC返回每个Layer实际可处理的类型(DEVICE/CLIENT)。若HWC拒绝某些Layer，SF将其降级为CLIENT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合成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：需要GPU合成的Layer交由RenderEngine线程离屏渲染到一个buffer，该buffer再作为一个CLIENT Layer交给HWC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HWC present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：所有Layer(含CLIENT合成结果)经HWC present送显。HWC内部通过DRM Atomic Commit一次性提交所有plane配置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异步优化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：HwcAsyncWorker可将validate/present异步化，与主线程后续工作并行，减少主线程阻塞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5562600"/>
            <a:ext cx="5080000" cy="508000"/>
          </a:xfrm>
          <a:prstGeom prst="roundRect">
            <a:avLst>
              <a:gd name="adj" fmla="val 15000"/>
            </a:avLst>
          </a:prstGeom>
          <a:solidFill>
            <a:srgbClr val="E8C5F0">
              <a:alpha val="5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关键：commit写快照，composite只读快照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——两阶段分离消除合成期间状态竞争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03 SurfaceFlinger16架构原理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09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 刷新率选择与 CompositionEngine 合成策略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Scheduler：刷新率决策与 VSYNC 分发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5080000" cy="558800"/>
          </a:xfrm>
          <a:prstGeom prst="roundRect">
            <a:avLst>
              <a:gd name="adj" fmla="val 909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VSyncPredictor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：基于硬件VSYNC历史时间戳预测下一次VSYNC，校准模型减少漂移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5080000" cy="558800"/>
          </a:xfrm>
          <a:prstGeom prst="roundRect">
            <a:avLst>
              <a:gd name="adj" fmla="val 909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EventThread×2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：app与appSf两条分发线程，相位错开实现App绘制与SF合成流水线并行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5080000" cy="558800"/>
          </a:xfrm>
          <a:prstGeom prst="roundRect">
            <a:avLst>
              <a:gd name="adj" fmla="val 9090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LayerHistory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：记录每个Layer近期实际渲染帧率(滑动平均)，供刷新率决策参考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683000"/>
            <a:ext cx="5080000" cy="558800"/>
          </a:xfrm>
          <a:prstGeom prst="roundRect">
            <a:avLst>
              <a:gd name="adj" fmla="val 9090"/>
            </a:avLst>
          </a:prstGeom>
          <a:solidFill>
            <a:srgbClr val="1E90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highlight>
                  <a:srgbClr val="FFFF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RefreshRateSelector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：在DMS输出的允许范围内，结合LayerHistory选择最优刷新率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942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刷新率选择两级决策链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99000"/>
            <a:ext cx="2349500" cy="660400"/>
          </a:xfrm>
          <a:prstGeom prst="roundRect">
            <a:avLst>
              <a:gd name="adj" fmla="val 7692"/>
            </a:avLst>
          </a:prstGeom>
          <a:solidFill>
            <a:srgbClr val="E8C5F0">
              <a:alpha val="6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DMS 策略层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输出允许范围(min/max)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vote类型化：Size/Modes/Peak</a:t>
            </a:r>
          </a:p>
        </p:txBody>
      </p:sp>
      <p:cxnSp>
        <p:nvCxnSpPr>
          <p:cNvPr name="Connector 13" id="13"/>
          <p:cNvCxnSpPr/>
          <p:nvPr/>
        </p:nvCxnSpPr>
        <p:spPr>
          <a:xfrm rot="-171744" flipH="false" flipV="false">
            <a:off x="3111659" y="50228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365500" y="4699000"/>
            <a:ext cx="2476500" cy="660400"/>
          </a:xfrm>
          <a:prstGeom prst="roundRect">
            <a:avLst>
              <a:gd name="adj" fmla="val 7692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 机制层</a:t>
            </a: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RefreshRateSelector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结合LayerHistory选最优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51180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SyntheticModeManager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支持渲染60Hz/显示120Hz解耦(VRR基础)，合成帧率与显示刷新率可独立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90905" flipH="false" flipV="false">
            <a:off x="3695700" y="3816358"/>
            <a:ext cx="480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CompositionEngine：DEVICE 优先，CLIENT 回退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778000"/>
            <a:ext cx="2413000" cy="762000"/>
          </a:xfrm>
          <a:prstGeom prst="roundRect">
            <a:avLst>
              <a:gd name="adj" fmla="val 100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DEVICE 合成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HWC硬件overlay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零GPU开销，低功耗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17000" y="1778000"/>
            <a:ext cx="2413000" cy="762000"/>
          </a:xfrm>
          <a:prstGeom prst="roundRect">
            <a:avLst>
              <a:gd name="adj" fmla="val 10000"/>
            </a:avLst>
          </a:prstGeom>
          <a:solidFill>
            <a:srgbClr val="C9302C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合成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RenderEngine GPU离屏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回退路径，有GPU开销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2717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合成决策流程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3022600"/>
            <a:ext cx="508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候选标记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：FrontEnd commit阶段为每个Layer标记候选合成类型(DEVICE/CLIENT/SOLID_COLOR/CURSOR)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② HWC validate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：将Layer列表提交HWC，HWC根据硬件能力(overlay数量/格式/变换/带宽)返回每个Layer实际可处理类型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③ 降级处理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：HWC拒绝的Layer降级为CLIENT，交由RenderEngine线程GPU离屏合成到一个buffer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④ HWC present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：所有Layer(含CLIENT合成结果buffer)经HWC present送显，内部通过DRM Atomic Commit一次性提交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⑤ 优化手段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：presentOrValidate跳过往返(场景未变时直接present)；HwcAsyncWorker将validate/present异步化与主线程并行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5435600"/>
            <a:ext cx="5080000" cy="635000"/>
          </a:xfrm>
          <a:prstGeom prst="roundRect">
            <a:avLst>
              <a:gd name="adj" fmla="val 12000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核心原则：硬件优先</a:t>
            </a: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——尽可能让HWC做DEVICE overlay合成以省GPU功耗，仅在硬件能力不足时回退CLIENT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04 GPU驱动代码梳理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10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kbase 整体架构与 JM / CSF 双后端模型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73200"/>
            <a:ext cx="10668000" cy="609600"/>
          </a:xfrm>
          <a:prstGeom prst="roundRect">
            <a:avLst>
              <a:gd name="adj" fmla="val 12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kbase 是 ARM Mali GPU 的内核空间驱动，对接用户空间 Mali 用户驱动(libGLES/libOpenCL)，负责GPU设备管理、内存分配映射、MMU地址空间、作业提交与中断处理。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五层架构模型（自顶向下）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41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文件操作层(fops)：用户空间系统调用入口，ioctl分发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49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上下文管理层：kbase_context，每进程一个GPU上下文，隔离资源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657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地址空间管理层：kbase_as，GPU MMU地址空间，页表管理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65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④ 内存管理层：kbase_mem_allocator，页池/分配/映射/unmap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6736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⑤ 作业调度层：JM 或 CSF 后端，统一 frontend 接口抽象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08600"/>
            <a:ext cx="5080000" cy="762000"/>
          </a:xfrm>
          <a:prstGeom prst="roundRect">
            <a:avLst>
              <a:gd name="adj" fmla="val 10000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关键数据结构：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kbase_device(全局GPU设备) → kbase_context(进程上下文) → kbase_as(地址空间) → kbase_mem_allocator(内存分配器)。kbase_device是单例，其余按进程创建。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88910" flipH="false" flipV="false">
            <a:off x="4127500" y="4248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350000" y="2286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双后端：JM(传统) vs CSF(新一代)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641600"/>
            <a:ext cx="2413000" cy="1651000"/>
          </a:xfrm>
          <a:prstGeom prst="roundRect">
            <a:avLst>
              <a:gd name="adj" fmla="val 4615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JM 后端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(Job Manager)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传统架构(G57及更早)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GPU有多个job slot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内核按优先级提交job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中断驱动完成通知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内核参与调度决策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17000" y="2641600"/>
            <a:ext cx="2413000" cy="1651000"/>
          </a:xfrm>
          <a:prstGeom prst="roundRect">
            <a:avLst>
              <a:gd name="adj" fmla="val 4615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CSF 后端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(Command Stream Frontend)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新一代(G710+)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GPU内置固件管理command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内核提交command group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固件做内部调度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内核更薄，硬件更智能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4445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 frontend 抽象层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7498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上层代码(上下文/内存/MMU)通过</a:t>
            </a: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统一frontend接口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调用作业调度，不感知具体后端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编译时根据GPU型号选择JM或CSF后端实现，运行时不切换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CSF是趋势：将调度逻辑下沉到GPU固件，减少内核参与，降低CPU开销，支持更复杂的调度策略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04 GPU驱动代码梳理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11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设备/上下文生命周期与内存管理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kbase_device 初始化流程（驱动加载）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5080000" cy="406400"/>
          </a:xfrm>
          <a:prstGeom prst="roundRect">
            <a:avLst>
              <a:gd name="adj" fmla="val 12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platform_driver probe → 检测GPU硬件型号/版本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35200"/>
            <a:ext cx="5080000" cy="406400"/>
          </a:xfrm>
          <a:prstGeom prst="roundRect">
            <a:avLst>
              <a:gd name="adj" fmla="val 1250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电源管理初始化 → 时钟/电压/电源域配置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692400"/>
            <a:ext cx="5080000" cy="406400"/>
          </a:xfrm>
          <a:prstGeom prst="roundRect">
            <a:avLst>
              <a:gd name="adj" fmla="val 12500"/>
            </a:avLst>
          </a:prstGeom>
          <a:solidFill>
            <a:srgbClr val="1E90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中断注册 → GPU中断/JM完成中断/CSF中断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149600"/>
            <a:ext cx="5080000" cy="406400"/>
          </a:xfrm>
          <a:prstGeom prst="roundRect">
            <a:avLst>
              <a:gd name="adj" fmla="val 12500"/>
            </a:avLst>
          </a:prstGeom>
          <a:solidFill>
            <a:srgbClr val="1E90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④ 内存分配器初始化 → 页池预分配 / DMA配置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606800"/>
            <a:ext cx="5080000" cy="406400"/>
          </a:xfrm>
          <a:prstGeom prst="roundRect">
            <a:avLst>
              <a:gd name="adj" fmla="val 12500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⑤ 作业调度后端初始化 → JM slot 或 CSF firmware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kbase_context 生命周期（每进程）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212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open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：用户空间打开/dev/mali设备文件，创建kbase_context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关联资源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：分配kbase_as(GPU MMU地址空间)、内存分配器实例、作业提交队列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运行期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：ioctl处理内存分配/映射、作业提交、同步对象(fence/dma-buf)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close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：进程退出或关闭文件，回收所有GPU资源(内存unmap、地址空间释放、未完成job清理)</a:t>
            </a:r>
          </a:p>
        </p:txBody>
      </p:sp>
      <p:cxnSp>
        <p:nvCxnSpPr>
          <p:cNvPr name="Connector 14" id="14"/>
          <p:cNvCxnSpPr/>
          <p:nvPr/>
        </p:nvCxnSpPr>
        <p:spPr>
          <a:xfrm rot="5390905" flipH="false" flipV="false">
            <a:off x="3695700" y="3816358"/>
            <a:ext cx="480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350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内存管理：三地址空间与页池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778000"/>
            <a:ext cx="5080000" cy="711200"/>
          </a:xfrm>
          <a:prstGeom prst="roundRect">
            <a:avLst>
              <a:gd name="adj" fmla="val 10714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三地址空间模型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CPU虚拟地址 ↔ 物理地址 ↔ GPU虚拟地址(GPU VA)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同一块物理内存可同时映射到CPU和GPU，通过MMU隔离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2590800"/>
            <a:ext cx="5080000" cy="711200"/>
          </a:xfrm>
          <a:prstGeom prst="roundRect">
            <a:avLst>
              <a:gd name="adj" fmla="val 10714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页池(Page Pool)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预分配物理页缓存池，避免频繁alloc/free的开销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大页(2MB/1GB)优先，减少TLB miss和页表层级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45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内存分配与映射流程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7592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① 分配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：用户ioctl → kbase_mem_alloc → 从页池取物理页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② CPU映射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：remap_pfn_range建立CPU虚拟地址映射(可选，按需mmap)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③ GPU映射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：在kbase_as页表中建立GPU VA → 物理页映射，刷新GPU TLB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④ 返回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：将GPU VA返回用户空间，作为GPU作业的指针参数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5130800"/>
            <a:ext cx="5080000" cy="812800"/>
          </a:xfrm>
          <a:prstGeom prst="roundRect">
            <a:avLst>
              <a:gd name="adj" fmla="val 9375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映射属性：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普通缓存(CPU读写) / 不可缓存(硬件一致性) / 安全映射(TEE/可信执行环境)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零拷贝共享：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通过dma-buf与其他驱动(显示/视频编解码)共享物理内存，无需CPU拷贝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04 GPU驱动代码梳理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12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GPU MMU 地址空间与作业提交路径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kbase_as：GPU MMU 地址空间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5080000" cy="660400"/>
          </a:xfrm>
          <a:prstGeom prst="roundRect">
            <a:avLst>
              <a:gd name="adj" fmla="val 11538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每进程独立地址空间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kbase_context 关联一个 kbase_as，GPU VA 空间完全隔离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ASID(Address Space ID) 在硬件层面区分不同进程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908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多级页表结构（类似 CPU MMU）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95600"/>
            <a:ext cx="5080000" cy="142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PGD(Page Global Dir)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：顶级页目录，每个地址空间一份，基址写入GPU MMU寄存器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PMD/PTE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：中间/末级页表，支持大页(2MB/1GB)减少页表层级和TLB miss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映射操作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：kbase_as_update()建立/修改映射，操作页表后需刷新GPU TLB使变更生效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缺页处理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：GPU访问未映射地址触发MMU fault中断，驱动诊断并上报用户空间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19600"/>
            <a:ext cx="5080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TLB 管理策略：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地址空间切换时全局TLB flush(按ASID)；单页映射变更时局部TLB invalidate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安全隔离：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安全世界(TEE)与普通世界使用独立ASID，GPU硬件保证不可越权访问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283200"/>
            <a:ext cx="5080000" cy="812800"/>
          </a:xfrm>
          <a:prstGeom prst="roundRect">
            <a:avLst>
              <a:gd name="adj" fmla="val 9375"/>
            </a:avLst>
          </a:prstGeom>
          <a:solidFill>
            <a:srgbClr val="1E90FF">
              <a:alpha val="15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与显示系统的关联：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GPU渲染的GraphicBuffer通过dma-buf导出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SF/HWC导入同一物理内存，GPU VA → 物理 → DPU读地址，零拷贝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acquire fence确保GPU写入完成后DPU才开始读取</a:t>
            </a:r>
          </a:p>
        </p:txBody>
      </p:sp>
      <p:cxnSp>
        <p:nvCxnSpPr>
          <p:cNvPr name="Connector 12" id="12"/>
          <p:cNvCxnSpPr/>
          <p:nvPr/>
        </p:nvCxnSpPr>
        <p:spPr>
          <a:xfrm rot="5390905" flipH="false" flipV="false">
            <a:off x="3695700" y="3816358"/>
            <a:ext cx="480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350000" y="14224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作业提交路径：JM vs CSF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7780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BA55D3"/>
                </a:solidFill>
                <a:latin typeface="Noto Sans SC"/>
                <a:ea typeface="Noto Sans SC"/>
                <a:cs typeface="Noto Sans SC"/>
                <a:sym typeface="Noto Sans SC"/>
              </a:rPr>
              <a:t>JM 后端（传统）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0320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用户空间构建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job descriptor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(含shader指针/参数/依赖)</a:t>
            </a:r>
            <a:endParaRPr lang="en-US" sz="1100"/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ioctl →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kbase_jd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(Job Dispatch)按优先级排队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排入对应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job slot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(fragment/vertex/compute分类)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写入GPU寄存器启动硬件执行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中断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通知job完成/错误，驱动处理后通知用户空间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内核直接参与调度决策(优先级/依赖/抢占)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6322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CSF 后端（新一代 G710+）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886200"/>
            <a:ext cx="508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用户空间构建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command stream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(更丰富的指令序列)</a:t>
            </a:r>
            <a:endParaRPr lang="en-US" sz="1100"/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ioctl →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kbase_csf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提交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command group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写入CSF硬件队列，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GPU固件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接管内部调度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固件管理优先级/依赖/上下文切换，内核更薄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完成通过 </a:t>
            </a:r>
            <a:r>
              <a:rPr lang="en-US" b="tru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中断或轮询</a:t>
            </a: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通知，支持更复杂的调度策略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趋势：调度逻辑下沉硬件，降低CPU开销，提升GPU利用率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5486400"/>
            <a:ext cx="5080000" cy="558800"/>
          </a:xfrm>
          <a:prstGeom prst="roundRect">
            <a:avLst>
              <a:gd name="adj" fmla="val 13636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同步机制：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作业间依赖通过 fence(dma-buf fence) 表达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前序job完成signal fence，后续job wait fence后才开始执行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05 HWC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13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HWC 定位与分层架构：硬件合成的抽象层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73200"/>
            <a:ext cx="10668000" cy="660400"/>
          </a:xfrm>
          <a:prstGeom prst="roundRect">
            <a:avLst>
              <a:gd name="adj" fmla="val 11538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HWC(Hardware Composer)是显示合成的硬件抽象层，负责将多个Layer(窗口/图层)通过显示控制器(DPU)的硬件overlay能力合成到显示输出。核心价值是</a:t>
            </a: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硬件overlay零GPU开销、低功耗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，仅在硬件能力不足时回退GPU合成。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368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五层分层架构（自顶向下）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924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SurfaceFlinger(framework) — 合成策略与调度，提交Layer列表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004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HWC HAL(AIDL Composer3) — 标准接口，validate/present/executeCommands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7084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HWC实现(vendor) — 如DrmHwc，将HAL命令翻译为DRM操作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164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1E90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④ DRM/KMS(内核驱动) — Atomic Commit提交plane配置，管理显示控制器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724400"/>
            <a:ext cx="5080000" cy="457200"/>
          </a:xfrm>
          <a:prstGeom prst="roundRect">
            <a:avLst>
              <a:gd name="adj" fmla="val 11111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⑤ Display Controller(DPU) — 硬件overlay引擎，扫描输出到面板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59400"/>
            <a:ext cx="5080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4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关键设计：</a:t>
            </a: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SF不直接操作硬件，通过HWC HAL解耦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vendor可替换HWC实现(DrmHwc/其他)，framework无需修改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AIDL Composer3是标准协议，V1→V4持续扩展能力</a:t>
            </a:r>
          </a:p>
        </p:txBody>
      </p:sp>
      <p:cxnSp>
        <p:nvCxnSpPr>
          <p:cNvPr name="Connector 14" id="14"/>
          <p:cNvCxnSpPr/>
          <p:nvPr/>
        </p:nvCxnSpPr>
        <p:spPr>
          <a:xfrm rot="5388765" flipH="false" flipV="false">
            <a:off x="4152900" y="4273560"/>
            <a:ext cx="388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350000" y="23368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进程视角与合成类型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692400"/>
            <a:ext cx="2413000" cy="1016000"/>
          </a:xfrm>
          <a:prstGeom prst="roundRect">
            <a:avLst>
              <a:gd name="adj" fmla="val 7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 进程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(system分区)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合成策略/调度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CLIENT回退GPU合成</a:t>
            </a:r>
          </a:p>
        </p:txBody>
      </p:sp>
      <p:cxnSp>
        <p:nvCxnSpPr>
          <p:cNvPr name="Connector 17" id="17"/>
          <p:cNvCxnSpPr/>
          <p:nvPr/>
        </p:nvCxnSpPr>
        <p:spPr>
          <a:xfrm rot="-171744" flipH="false" flipV="false">
            <a:off x="8763159" y="31940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9017000" y="2692400"/>
            <a:ext cx="2413000" cy="1016000"/>
          </a:xfrm>
          <a:prstGeom prst="roundRect">
            <a:avLst>
              <a:gd name="adj" fmla="val 7500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 进程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(vendor分区)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硬件合成执行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DRM Atomic Commit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9116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AIDL Binder 跨进程通信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4191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SF通过AIDL调用HWC的validate/present/executeCommands</a:t>
            </a:r>
            <a:endParaRPr lang="en-US" sz="1100"/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批量命令经共享内存FMQ传递，减少Binder拷贝开销</a:t>
            </a:r>
          </a:p>
          <a:p>
            <a:pPr algn="l" indent="-127000" marL="127000">
              <a:lnSpc>
                <a:spcPct val="120833"/>
              </a:lnSpc>
              <a:buClr>
                <a:srgbClr val="334155"/>
              </a:buClr>
              <a:buChar char="•"/>
            </a:pPr>
            <a:r>
              <a:rPr lang="en-US" b="false" i="false" strike="noStrike" u="none" sz="1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HWC异步回调通知SF事件(热插拔/VSYNC/错误)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5054600"/>
            <a:ext cx="2413000" cy="1016000"/>
          </a:xfrm>
          <a:prstGeom prst="roundRect">
            <a:avLst>
              <a:gd name="adj" fmla="val 7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DEVICE 合成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硬件overlay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零GPU开销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低功耗，优先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5054600"/>
            <a:ext cx="2413000" cy="1016000"/>
          </a:xfrm>
          <a:prstGeom prst="roundRect">
            <a:avLst>
              <a:gd name="adj" fmla="val 7500"/>
            </a:avLst>
          </a:prstGeom>
          <a:solidFill>
            <a:srgbClr val="C9302C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合成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RenderEngine GPU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有GPU开销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回退路径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05 HWC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14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HWC 核心模块划分（以 DrmHwc 实现为例）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224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七大核心模块（按职责分层）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DrmHwc（主入口）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实现AIDL Composer3接口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validate/present/executeCommands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协调各模块完成合成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780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ResourceManager（资源管理）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DRM资源：connector/encoder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crtc/plane的分配与复用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硬件能力查询(overlay数量/格式)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17780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1E90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HwcDisplay（显示实例）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每个物理显示一个实例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管理该显示的合成状态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mode配置/亮度/色彩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464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1E90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Backend（合成后端）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DrmAtomicBackend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负责DRM Atomic Commit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不可分割原子提交plane配置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9464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1E90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HwcLayer（图层实例）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每个Layer一个实例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管理合成类型(DEVICE/CLIENT)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buffer/几何/变换属性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2946400"/>
            <a:ext cx="3429000" cy="1016000"/>
          </a:xfrm>
          <a:prstGeom prst="roundRect">
            <a:avLst>
              <a:gd name="adj" fmla="val 7500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VsyncManager（VSYNC管理）</a:t>
            </a: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从DRM接收硬件VSYNC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回调SF EventThread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支持软件VSYNC回退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14800"/>
            <a:ext cx="10668000" cy="711200"/>
          </a:xfrm>
          <a:prstGeom prst="roundRect">
            <a:avLst>
              <a:gd name="adj" fmla="val 10714"/>
            </a:avLst>
          </a:prstGeom>
          <a:solidFill>
            <a:srgbClr val="E8C5F0">
              <a:alpha val="50000"/>
            </a:srgbClr>
          </a:solidFill>
          <a:ln w="12700" cmpd="sng" cap="flat">
            <a:solidFill>
              <a:srgbClr val="1E90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热插拔管理：</a:t>
            </a:r>
            <a:r>
              <a:rPr lang="en-US" b="false" i="false" strike="noStrike" u="none" sz="1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监听DRM uevent热插拔事件 → 检测connector连接/断开 → 创建/销毁HwcDisplay实例 → 通过AIDL回调通知SF显示设备变化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292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模块协作关系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入口层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：DrmHwc接收SF的AIDL调用(validate/present)，是整个HWC的协调中心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显示层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：HwcDisplay管理单个显示的合成状态，包含该显示的所有HwcLayer列表，关联Backend执行实际提交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资源层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：ResourceManager全局管理DRM硬件资源(plane/crtc)，在validate阶段为各HwcDisplay分配硬件overlay plane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事件层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：VsyncManager和热插拔管理通过AIDL回调主动通知SF，是HWC→SF的反向通信通道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2794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领域知识学习 · 05 HWC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95000" y="2794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15 / 15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65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787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D8E"/>
                </a:solidFill>
                <a:latin typeface="Noto Sans SC"/>
                <a:ea typeface="Noto Sans SC"/>
                <a:cs typeface="Noto Sans SC"/>
                <a:sym typeface="Noto Sans SC"/>
              </a:rPr>
              <a:t>单帧合成流程：Validate → Accept → Present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4732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① Validate（验证）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SF提交Layer列表 → HWC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HWC评估每个Layer是否可用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硬件overlay(格式/变换/带宽)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返回每Layer类型：DEVICE/CLIENT</a:t>
            </a:r>
          </a:p>
        </p:txBody>
      </p:sp>
      <p:cxnSp>
        <p:nvCxnSpPr>
          <p:cNvPr name="Connector 7" id="7"/>
          <p:cNvCxnSpPr/>
          <p:nvPr/>
        </p:nvCxnSpPr>
        <p:spPr>
          <a:xfrm rot="-137436" flipH="false" flipV="false">
            <a:off x="4191127" y="22288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508500" y="1473200"/>
            <a:ext cx="3429000" cy="1524000"/>
          </a:xfrm>
          <a:prstGeom prst="roundRect">
            <a:avLst>
              <a:gd name="adj" fmla="val 6666"/>
            </a:avLst>
          </a:prstGeom>
          <a:solidFill>
            <a:srgbClr val="1E90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② Accept（接受）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SF接受validate结果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 Layer → RenderEngine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GPU离屏合成到一个buffer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该buffer作为CLIENT Layer交HWC</a:t>
            </a:r>
          </a:p>
        </p:txBody>
      </p:sp>
      <p:cxnSp>
        <p:nvCxnSpPr>
          <p:cNvPr name="Connector 9" id="9"/>
          <p:cNvCxnSpPr/>
          <p:nvPr/>
        </p:nvCxnSpPr>
        <p:spPr>
          <a:xfrm rot="-137436" flipH="false" flipV="false">
            <a:off x="7937627" y="22288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E90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255000" y="1473200"/>
            <a:ext cx="3175000" cy="1524000"/>
          </a:xfrm>
          <a:prstGeom prst="roundRect">
            <a:avLst>
              <a:gd name="adj" fmla="val 6666"/>
            </a:avLst>
          </a:prstGeom>
          <a:solidFill>
            <a:srgbClr val="4755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③ Present（送显）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SF提交最终Layer列表 → HWC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HWC → DRM Atomic Commit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DPU硬件overlay合成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扫描输出到面板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251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DRM Atomic Commit（原子提交）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581400"/>
            <a:ext cx="50800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不可分割原子操作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：所有plane/framebuffer/crtc/connector配置同时生效，避免中间态撕裂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测试-提交两阶段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：先TEST_ONLY测试配置是否可行(对应validate)，再正式COMMIT提交(对应present)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plane分配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：每个DEVICE Layer分配一个硬件plane(primary/overlay/cursor)，绑定framebuffer和位置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fence同步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：in-fence等待buffer内容写入完成，out-fence(present fence)标记实际显示时刻</a:t>
            </a:r>
          </a:p>
        </p:txBody>
      </p:sp>
      <p:cxnSp>
        <p:nvCxnSpPr>
          <p:cNvPr name="Connector 13" id="13"/>
          <p:cNvCxnSpPr/>
          <p:nvPr/>
        </p:nvCxnSpPr>
        <p:spPr>
          <a:xfrm rot="5385308" flipH="false" flipV="false">
            <a:off x="4610100" y="4730764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350000" y="3251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90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性能优化与关键设计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581400"/>
            <a:ext cx="50800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presentOrValidate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：场景未变化时跳过validate直接present，减少一次HWC往返，降低延迟</a:t>
            </a:r>
            <a:endParaRPr lang="en-US" sz="1100"/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HwcAsyncWorker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：validate/present异步化，与SF主线程并行，减少主线程阻塞时间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批量命令FMQ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：一帧的DisplayCommand(含LayerCommand[])经共享内存快速消息队列传递，减少Binder拷贝</a:t>
            </a:r>
          </a:p>
          <a:p>
            <a:pPr algn="l" indent="-139700" marL="139700">
              <a:lnSpc>
                <a:spcPct val="125000"/>
              </a:lnSpc>
              <a:buClr>
                <a:srgbClr val="334155"/>
              </a:buClr>
              <a:buChar char="•"/>
            </a:pPr>
            <a:r>
              <a:rPr lang="en-US" b="tru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零拷贝路径</a:t>
            </a: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：DEVICE合成下，App GPU写入的dmabuf物理内存直接被DPU扫描读取，全程无CPU拷贝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283200"/>
            <a:ext cx="10668000" cy="812800"/>
          </a:xfrm>
          <a:prstGeom prst="roundRect">
            <a:avLst>
              <a:gd name="adj" fmla="val 9375"/>
            </a:avLst>
          </a:prstGeom>
          <a:solidFill>
            <a:srgbClr val="BA55D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全链路总结：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 GPU渲染buffer → BLAST提交SF → SF FrontEnd快照化 → CompositionEngine决策 → HWC validate分配DEVICE/CLIENT → CLIENT回退RenderEngine GPU合成 → HWC present → DRM Atomic Commit → DPU硬件overlay → 面板显示。全链路通过fence实现无CPU等待的异步流水线。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{"Label":"1","ContentProducer":"001191110102MACQD9K64010000","ProduceID":"7676119031414803410","ReservedCode1":"","ContentPropagator":"","PropagateID":"","ReservedCode2":""}</vt:lpwstr>
  </property>
</Properties>
</file>